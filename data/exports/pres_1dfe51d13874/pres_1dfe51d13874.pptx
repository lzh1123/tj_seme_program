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测试覆盖层次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单元测试</c:v>
                </c:pt>
                <c:pt idx="1">
                  <c:v>集成测试</c:v>
                </c:pt>
                <c:pt idx="2">
                  <c:v>系统测试</c:v>
                </c:pt>
                <c:pt idx="3">
                  <c:v>验收测试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85.0</c:v>
                </c:pt>
                <c:pt idx="1">
                  <c:v>70.0</c:v>
                </c:pt>
                <c:pt idx="2">
                  <c:v>60.0</c:v>
                </c:pt>
                <c:pt idx="3">
                  <c:v>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展示课程标题，吸引学生注意力，并建立专业基调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列出本次分享的核心内容：软件工程概念、开发流程、方法与工具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给出软件工程的定义，强调系统化、规范化、可量化的开发方法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说明软件危机、质量控制、成本管理的重要性，激发学习动机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直观展示从需求到维护的各个阶段，建立整体流程认知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对比两种主流开发模式的特点、适用场景与优缺点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用步骤图展示需求分析、设计、编码、测试、部署的连贯性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介绍需求获取、分析和规格说明的方法，强调沟通的重要性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讲解模块化、高内聚低耦合、抽象与封装等核心设计思想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以图表展示单元测试、集成测试、系统测试、验收测试的层次关系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分列列举IDE、版本控制、CI/CD、项目管理等工具及其作用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引用经典名言或一句话总结，强化“软件工程是构建可靠软件的系统化方法”这一核心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48049"/>
            <a:ext cx="10972525" cy="2647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需求分析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架构设计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质量保障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团队协作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904999"/>
            <a:ext cx="10972525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Times New Roman, Georgia, serif"/>
              </a:rPr>
              <a:t>系统化构建可靠软件的学科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724150"/>
            <a:ext cx="1097252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从编码到工程，构建高质量软件的基石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09600"/>
            <a:ext cx="10972525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核心概念：什么是软件工程及为什么需要它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开发流程：生命周期模型与典型步骤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具体方法：需求、设计与测试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工具与实践：IDE、版本控制、CI/CD等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课程大纲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软件工程是将系统化、规范化、可量化的方法应用于软件的开发、运行和维护的学科。它借鉴了传统工程学的原则，旨在提高软件生产的效率和质量。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其核心活动包括需求分析、设计、编码、测试和维护，每个阶段都有明确的交付物和质量标准。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什么是软件工程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应对软件危机：避免项目延期、超预算、质量低下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提升可维护性：降低长期维护成本，延长系统寿命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保证协作效率：多人团队需要统一规范与流程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管理复杂度：大型系统需要架构与设计来驾驭复杂性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为什么需要软件工程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3962399"/>
            <a:ext cx="1097252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9688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931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启动阶段 · 需求分析</a:t>
            </a:r>
            <a:br/>
            <a:r>
              <a:t>与客户沟通，明确系统功能与非功能需求</a:t>
            </a:r>
          </a:p>
        </p:txBody>
      </p:sp>
      <p:sp>
        <p:nvSpPr>
          <p:cNvPr id="5" name="Oval 4"/>
          <p:cNvSpPr/>
          <p:nvPr/>
        </p:nvSpPr>
        <p:spPr>
          <a:xfrm>
            <a:off x="3844193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13815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规划阶段 · 设计</a:t>
            </a:r>
            <a:br/>
            <a:r>
              <a:t>架构设计、模块划分、接口定义</a:t>
            </a:r>
          </a:p>
        </p:txBody>
      </p:sp>
      <p:sp>
        <p:nvSpPr>
          <p:cNvPr id="7" name="Oval 6"/>
          <p:cNvSpPr/>
          <p:nvPr/>
        </p:nvSpPr>
        <p:spPr>
          <a:xfrm>
            <a:off x="6038699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832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实施阶段 · 编码</a:t>
            </a:r>
            <a:br/>
            <a:r>
              <a:t>按设计方案编写代码，单元测试</a:t>
            </a:r>
          </a:p>
        </p:txBody>
      </p:sp>
      <p:sp>
        <p:nvSpPr>
          <p:cNvPr id="9" name="Oval 8"/>
          <p:cNvSpPr/>
          <p:nvPr/>
        </p:nvSpPr>
        <p:spPr>
          <a:xfrm>
            <a:off x="8233204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02825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验证阶段 · 测试</a:t>
            </a:r>
            <a:br/>
            <a:r>
              <a:t>集成测试、系统测试、验收测试</a:t>
            </a:r>
          </a:p>
        </p:txBody>
      </p:sp>
      <p:sp>
        <p:nvSpPr>
          <p:cNvPr id="11" name="Oval 10"/>
          <p:cNvSpPr/>
          <p:nvPr/>
        </p:nvSpPr>
        <p:spPr>
          <a:xfrm>
            <a:off x="10427709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733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运行阶段 · 维护</a:t>
            </a:r>
            <a:br/>
            <a:r>
              <a:t>错误修正、功能升级、性能优化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软件开发生命周期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464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瀑布模型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顺序执行，阶段严格分离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文档驱动，前期规划完善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适合需求明确、变更少的项目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风险：后期发现问题代价大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045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4925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敏捷方法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迭代增量，快速反馈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沟通驱动，适应变化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适合需求不确定、快速交付的项目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风险：过度灵活可能缺乏文档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瀑布模型 vs 敏捷方法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需求分析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收集、整理、确认用户需求，输出需求规格说明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569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71729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设计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进行系统架构与详细设计，绘制UML图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9553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96713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编码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根据设计文档编写代码，执行代码审查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4537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1697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测试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编写测试用例，执行各类测试并报告缺陷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522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682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部署与维护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部署到生产环境，持续监控与迭代更新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典型开发流程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需求获取：访谈、问卷调查、原型演示、用户故事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需求分析：识别功能需求与非功能需求，优先级排序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规格说明：撰写SRS（软件需求规格说明书），确保无歧义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需求验证：通过评审、确认确保需求准确完整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需求工程基础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优秀的设计应遵循模块化原则，将系统划分为独立的功能单元，每个单元职责清晰。高内聚强调模块内部元素紧密关联，低耦合则减少模块间的依赖。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抽象与封装隐藏实现细节，仅暴露必要接口；开闭原则鼓励对扩展开放、对修改封闭。这些原则共同指导构建可维护、可扩展的软件系统。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软件设计原则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09584" y="1676400"/>
          <a:ext cx="1097252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软件测试类型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集成开发环境 (IDE)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Visual Studio Code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IntelliJ IDEA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Eclipse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7892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55052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版本控制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Git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GitHub / GitLab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分支管理与代码审查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6199" y="1676400"/>
            <a:ext cx="3555911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63359" y="1813560"/>
            <a:ext cx="3281591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CI/CD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Jenkins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GitHub Actions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自动化构建、测试、部署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常用开发工具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10972525" cy="45720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3904" y="1950720"/>
            <a:ext cx="1042388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111827"/>
                </a:solidFill>
                <a:latin typeface="Times New Roman, Georgia, serif"/>
              </a:defRPr>
            </a:pPr>
            <a:r>
              <a:t>“软件工程是将系统化、规范化、可量化的方法应用于软件的开发、运行和维护。”</a:t>
            </a:r>
          </a:p>
          <a:p>
            <a:pPr algn="ctr">
              <a:defRPr sz="1600">
                <a:solidFill>
                  <a:srgbClr val="4B5563"/>
                </a:solidFill>
                <a:latin typeface="Times New Roman, Georgia, serif"/>
              </a:defRPr>
            </a:pPr>
            <a:r>
              <a:t>— IEEE Standard Glossary of Software Engineering Terminology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