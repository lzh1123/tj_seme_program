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单元测试</c:v>
                </c:pt>
                <c:pt idx="1">
                  <c:v>集成测试</c:v>
                </c:pt>
                <c:pt idx="2">
                  <c:v>系统测试</c:v>
                </c:pt>
                <c:pt idx="3">
                  <c:v>验收测试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70.0</c:v>
                </c:pt>
                <c:pt idx="1">
                  <c:v>20.0</c:v>
                </c:pt>
                <c:pt idx="2">
                  <c:v>7.0</c:v>
                </c:pt>
                <c:pt idx="3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概述演讲主题、目标听众及课程结构，激发兴趣。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列出演讲的主要章节，帮助听众了解整体框架。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定义软件工程，强调其工程化特性，区别于个人编程。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对比软件工程与简单编程的差异，突出工程化思维的重要性。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展示软件从概念到退役的各个阶段及其流程。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介绍瀑布模型的特点、适用场景及局限性。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讲解敏捷原则和Scrum、看板等常见实践。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从SWOT角度对比敏捷与瀑布模型，帮助选择合适方法。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展示需求获取、分析、规格说明和验证的关键度量。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以多列形式展示模块化、内聚、耦合、设计模式等核心概念。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强调编码标准、代码复审和版本控制对质量的重要性。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用图表展示单元测试、集成测试、系统测试和验收测试的层次。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以时间线展示从提交到部署的自动化流程。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讲解代码规范、自动化测试、性能测试和静态分析等实践。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用多列介绍里程碑、风险管理、配置库和环境管理。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展示MVC、微服务、领域驱动设计等架构模式的简单架构图。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引用Fred Brooks等专家名言，强化软件工程的重要原则。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推荐书籍、在线课程及社区，鼓励后续深入学习。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3429000"/>
            <a:ext cx="11124921" cy="2724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软件工程的定义与核心原则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软件生命周期与开发方法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最佳实践与前沿工具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1847849"/>
            <a:ext cx="11124921" cy="6667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A9B7D0"/>
                </a:solidFill>
                <a:latin typeface="ui-sans-serif, system-ui, Segoe UI, Arial"/>
              </a:rPr>
              <a:t>系统化、规范化的软件开发方法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86" y="2686050"/>
            <a:ext cx="11124921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从编程到工程：构建可靠软件的基石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533399"/>
            <a:ext cx="11124921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软件工程介绍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软件工程基础与核心概念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软件开发方法论（传统与敏捷）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软件过程：需求、设计、编码、测试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最佳实践：CI/CD、质量保证、架构模式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总结与学习资源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今日议程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软件工程是应用系统化、规范化、可量化的方法开发、运行和维护软件的工程学科。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它涵盖了需求分析、设计、编码、测试、部署和维护的全过程，旨在高效构建高质量、可靠且满足用户需求的软件产品。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软件工程不仅关注技术，还注重项目管理、团队协作和沟通，确保软件开发的可持续性。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什么是软件工程？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5476738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6266" y="1802130"/>
            <a:ext cx="5110978" cy="4339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编程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侧重编写代码实现功能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通常个人或小团队工作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较少关注文档和过程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应对简单或一次性任务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81570" y="1619250"/>
            <a:ext cx="5476738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64450" y="1802130"/>
            <a:ext cx="5110978" cy="4339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软件工程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关注整个生命周期的管理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强调团队协作与标准化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包含需求分析、设计、测试、维护</a:t>
            </a:r>
          </a:p>
          <a:p>
            <a:pPr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应对复杂、长期演化的系统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软件工程 vs. 编程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1711282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6" y="1756410"/>
            <a:ext cx="1436962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需求分析</a:t>
            </a:r>
          </a:p>
          <a:p>
            <a:pPr algn="ctr"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收集用户需求，明确系统功能与约束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16114" y="1619250"/>
            <a:ext cx="1711282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53274" y="1756410"/>
            <a:ext cx="1436962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设计</a:t>
            </a:r>
          </a:p>
          <a:p>
            <a:pPr algn="ctr"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制定架构、模块划分、数据设计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8842" y="1619250"/>
            <a:ext cx="1711282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6002" y="1756410"/>
            <a:ext cx="1436962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实现</a:t>
            </a:r>
          </a:p>
          <a:p>
            <a:pPr algn="ctr"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编码与单元测试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570" y="1619250"/>
            <a:ext cx="1711282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730" y="1756410"/>
            <a:ext cx="1436962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测试</a:t>
            </a:r>
          </a:p>
          <a:p>
            <a:pPr algn="ctr"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集成测试、系统测试、验收测试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4298" y="1619250"/>
            <a:ext cx="1711282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1458" y="1756410"/>
            <a:ext cx="1436962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部署</a:t>
            </a:r>
          </a:p>
          <a:p>
            <a:pPr algn="ctr"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交付给用户并上线运行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47026" y="1619250"/>
            <a:ext cx="1711282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84186" y="1756410"/>
            <a:ext cx="1436962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维护</a:t>
            </a:r>
          </a:p>
          <a:p>
            <a:pPr algn="ctr"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修正缺陷、功能增强、性能优化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软件生命周期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瀑布模型将软件开发分为顺序的阶段：需求→设计→实现→测试→部署→维护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每个阶段完成后才能进入下一阶段，文档驱动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适用于需求明确、稳定的项目（如政府、航天系统）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主要缺点：难以应对需求变更，发现问题较晚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传统开发模型：瀑布模型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6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规划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冲刺开始前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产品待办列表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冲刺计划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842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36002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执行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冲刺期间（1-4周）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每日站会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增量功能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4298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1458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评审与回顾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冲刺结束时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冲刺评审会议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回顾改进项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敏捷开发简介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5476738" cy="22669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6" y="1756410"/>
            <a:ext cx="5202418" cy="1992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Strengths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敏捷：快速响应变更，客户参与度高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传统：阶段清晰，文档完整，适合固定需求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81570" y="1619250"/>
            <a:ext cx="5476738" cy="22669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18730" y="1756410"/>
            <a:ext cx="5202418" cy="1992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Weaknesses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敏捷：文档不充分，对团队成员要求高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传统：变更成本高，交付周期长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386" y="4057650"/>
            <a:ext cx="5476738" cy="22669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46" y="4194810"/>
            <a:ext cx="5202418" cy="1992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Opportunities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融合两种方法（如混合模型）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工具和DevOps实践提升敏捷效率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570" y="4057650"/>
            <a:ext cx="5476738" cy="22669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730" y="4194810"/>
            <a:ext cx="5202418" cy="1992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Threats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不恰当的方法选择可能导致项目失败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缺乏经验时敏捷实施流于形式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敏捷 vs. 传统：优劣分析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6266" y="1802130"/>
            <a:ext cx="3228250" cy="4339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需求覆盖率</a:t>
            </a:r>
          </a:p>
          <a:p>
            <a:pPr>
              <a:defRPr sz="36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85 %</a:t>
            </a:r>
          </a:p>
          <a:p>
            <a:pPr>
              <a:defRPr sz="1200">
                <a:solidFill>
                  <a:srgbClr val="0078D4"/>
                </a:solidFill>
                <a:latin typeface="ui-sans-serif, system-ui, Segoe UI, Arial"/>
              </a:defRPr>
            </a:pPr>
            <a:r>
              <a:t>+10%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842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81722" y="1802130"/>
            <a:ext cx="3228250" cy="4339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需求变更数</a:t>
            </a:r>
          </a:p>
          <a:p>
            <a:pPr>
              <a:defRPr sz="36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32 次/月</a:t>
            </a:r>
          </a:p>
          <a:p>
            <a:pPr>
              <a:defRPr sz="1200">
                <a:solidFill>
                  <a:srgbClr val="0078D4"/>
                </a:solidFill>
                <a:latin typeface="ui-sans-serif, system-ui, Segoe UI, Arial"/>
              </a:defRPr>
            </a:pPr>
            <a:r>
              <a:t>-5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4298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47178" y="1802130"/>
            <a:ext cx="3228250" cy="4339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需求缺陷密度</a:t>
            </a:r>
          </a:p>
          <a:p>
            <a:pPr>
              <a:defRPr sz="36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2.3 个/KLOC</a:t>
            </a:r>
          </a:p>
          <a:p>
            <a:pPr>
              <a:defRPr sz="1200">
                <a:solidFill>
                  <a:srgbClr val="0078D4"/>
                </a:solidFill>
                <a:latin typeface="ui-sans-serif, system-ui, Segoe UI, Arial"/>
              </a:defRPr>
            </a:pPr>
            <a:r>
              <a:t>-0.7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需求工程关键指标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6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设计原则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单一职责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开放封闭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里氏替换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接口隔离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依赖倒置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842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36002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设计概念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高内聚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低耦合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模块化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抽象与封装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4298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1458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设计模式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单例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工厂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观察者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策略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MVC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软件设计要点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编码规范（命名、格式、注释）确保可读性和一致性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代码审查（Code Review）能早期发现缺陷并分享知识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版本控制（如Git）管理变更，支持协作与回溯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持续集成流水线自动检查代码质量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编码规范与代码审查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33386" y="1619250"/>
          <a:ext cx="11124921" cy="47053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测试金字塔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386" y="3971925"/>
            <a:ext cx="11124921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403314" y="3914775"/>
            <a:ext cx="114297" cy="1143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6094" y="1619250"/>
            <a:ext cx="1668738" cy="2117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第1分钟 · 代码提交</a:t>
            </a:r>
            <a:br/>
            <a:r>
              <a:t>开发者向版本库推送代码</a:t>
            </a:r>
          </a:p>
        </p:txBody>
      </p:sp>
      <p:sp>
        <p:nvSpPr>
          <p:cNvPr id="5" name="Oval 4"/>
          <p:cNvSpPr/>
          <p:nvPr/>
        </p:nvSpPr>
        <p:spPr>
          <a:xfrm>
            <a:off x="3257468" y="3914775"/>
            <a:ext cx="114297" cy="1143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80247" y="1619250"/>
            <a:ext cx="1668738" cy="2117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第2-3分钟 · 构建与单元测试</a:t>
            </a:r>
            <a:br/>
            <a:r>
              <a:t>自动编译并执行单元测试</a:t>
            </a:r>
          </a:p>
        </p:txBody>
      </p:sp>
      <p:sp>
        <p:nvSpPr>
          <p:cNvPr id="7" name="Oval 6"/>
          <p:cNvSpPr/>
          <p:nvPr/>
        </p:nvSpPr>
        <p:spPr>
          <a:xfrm>
            <a:off x="5111622" y="3914775"/>
            <a:ext cx="114297" cy="1143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4401" y="1619250"/>
            <a:ext cx="1668738" cy="2117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第4分钟 · 自动化代码分析</a:t>
            </a:r>
            <a:br/>
            <a:r>
              <a:t>运行静态分析工具检查质量</a:t>
            </a:r>
          </a:p>
        </p:txBody>
      </p:sp>
      <p:sp>
        <p:nvSpPr>
          <p:cNvPr id="9" name="Oval 8"/>
          <p:cNvSpPr/>
          <p:nvPr/>
        </p:nvSpPr>
        <p:spPr>
          <a:xfrm>
            <a:off x="6965775" y="3914775"/>
            <a:ext cx="114297" cy="1143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8555" y="1619250"/>
            <a:ext cx="1668738" cy="2117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第5-8分钟 · 集成测试</a:t>
            </a:r>
            <a:br/>
            <a:r>
              <a:t>执行集成测试确保模块协作</a:t>
            </a:r>
          </a:p>
        </p:txBody>
      </p:sp>
      <p:sp>
        <p:nvSpPr>
          <p:cNvPr id="11" name="Oval 10"/>
          <p:cNvSpPr/>
          <p:nvPr/>
        </p:nvSpPr>
        <p:spPr>
          <a:xfrm>
            <a:off x="8819929" y="3914775"/>
            <a:ext cx="114297" cy="1143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2708" y="1619250"/>
            <a:ext cx="1668738" cy="2117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第9分钟 · 打包与部署到测试环境</a:t>
            </a:r>
            <a:br/>
            <a:r>
              <a:t>生成部署包并推送至测试服务器</a:t>
            </a:r>
          </a:p>
        </p:txBody>
      </p:sp>
      <p:sp>
        <p:nvSpPr>
          <p:cNvPr id="13" name="Oval 12"/>
          <p:cNvSpPr/>
          <p:nvPr/>
        </p:nvSpPr>
        <p:spPr>
          <a:xfrm>
            <a:off x="10674083" y="3914775"/>
            <a:ext cx="114297" cy="11430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96862" y="1619250"/>
            <a:ext cx="1668738" cy="21174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第10-15分钟 · 验收测试与发布</a:t>
            </a:r>
            <a:br/>
            <a:r>
              <a:t>自动化验收测试后批准发布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持续集成/持续交付（CI/CD）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软件质量保证（SQA）是一系列系统化活动，确保软件产品和服务满足规定的质量要求。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关键实践包括：代码审查、单元测试、集成测试、性能测试、压力测试、安全性测试。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自动化工具（如SonarQube、JUnit、Selenium）助力持续质量监控。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建立全面的质量度量体系，如缺陷率、测试覆盖率、MTBF等。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软件质量保证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6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项目管理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里程碑与进度跟踪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风险管理与应对策略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资源与预算管理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8842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36002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配置管理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版本控制（Git/SVN）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变更管理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构建管理（Maven/Gradle）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64298" y="1619250"/>
            <a:ext cx="3594010" cy="47053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1458" y="1756410"/>
            <a:ext cx="3319690" cy="443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环境管理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开发/测试/生产环境隔离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容器化（Docker）</a:t>
            </a:r>
          </a:p>
          <a:p>
            <a:pPr>
              <a:defRPr sz="1200">
                <a:solidFill>
                  <a:srgbClr val="E6EEF9"/>
                </a:solidFill>
                <a:latin typeface="ui-sans-serif, system-ui, Segoe UI, Arial"/>
              </a:defRPr>
            </a:pPr>
            <a:r>
              <a:t>基础设施即代码（Terraform）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项目管理与配置管理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11124921" cy="14541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70546" y="1710690"/>
            <a:ext cx="10850601" cy="1271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MVC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模型（数据与业务逻辑） · 视图（用户界面） · 控制器（处理请求）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3386" y="3244849"/>
            <a:ext cx="11124921" cy="14541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0546" y="3336289"/>
            <a:ext cx="10850601" cy="1271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微服务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服务注册与发现 · API网关 · 独立部署单元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3386" y="4870450"/>
            <a:ext cx="11124921" cy="1454150"/>
          </a:xfrm>
          <a:prstGeom prst="roundRect">
            <a:avLst/>
          </a:prstGeom>
          <a:solidFill>
            <a:srgbClr val="111B2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46" y="4961890"/>
            <a:ext cx="10850601" cy="12712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6EEF9"/>
                </a:solidFill>
                <a:latin typeface="ui-sans-serif, system-ui, Segoe UI, Arial"/>
              </a:defRPr>
            </a:pPr>
            <a:r>
              <a:t>领域驱动设计</a:t>
            </a:r>
          </a:p>
          <a:p>
            <a:pPr>
              <a:defRPr sz="1200">
                <a:solidFill>
                  <a:srgbClr val="A9B7D0"/>
                </a:solidFill>
                <a:latin typeface="ui-sans-serif, system-ui, Segoe UI, Arial"/>
              </a:defRPr>
            </a:pPr>
            <a:r>
              <a:t>限界上下文 · 实体与值对象 · 聚合与仓库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常用软件架构模式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33386" y="1619250"/>
            <a:ext cx="11124921" cy="4705350"/>
          </a:xfrm>
          <a:prstGeom prst="roundRect">
            <a:avLst/>
          </a:prstGeom>
          <a:solidFill>
            <a:srgbClr val="111B2E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7706" y="1893570"/>
            <a:ext cx="10576281" cy="4156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E6EEF9"/>
                </a:solidFill>
                <a:latin typeface="ui-sans-serif, system-ui, Segoe UI, Arial"/>
              </a:defRPr>
            </a:pPr>
            <a:r>
              <a:t>““软件工程没有银弹，但系统化的方法和工具可以帮助我们驯服复杂性。””</a:t>
            </a:r>
          </a:p>
          <a:p>
            <a:pPr algn="ctr">
              <a:defRPr sz="1600">
                <a:solidFill>
                  <a:srgbClr val="A9B7D0"/>
                </a:solidFill>
                <a:latin typeface="ui-sans-serif, system-ui, Segoe UI, Arial"/>
              </a:defRPr>
            </a:pPr>
            <a:r>
              <a:t>— Fred Brooks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386" y="1619250"/>
            <a:ext cx="11124921" cy="470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书籍：《代码大全》《人月神话》《设计模式》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在线课程：Coursera 软件工程专项课程、edX 软件工程基础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社区与博客：Stack Overflow、InfoQ、Martin Fowler's Bliki</a:t>
            </a:r>
          </a:p>
          <a:p>
            <a:pPr algn="l">
              <a:defRPr sz="1600">
                <a:solidFill>
                  <a:srgbClr val="E6EEF9"/>
                </a:solidFill>
                <a:latin typeface="ui-sans-serif, system-ui, Segoe UI, Arial"/>
              </a:defRPr>
            </a:pPr>
            <a:r>
              <a:t>• 工具实践：GitHub、Jenkins、Docker、Kubernetes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386" y="533399"/>
            <a:ext cx="11124921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E6EEF9"/>
                </a:solidFill>
                <a:latin typeface="ui-sans-serif, system-ui, Segoe UI, Arial"/>
              </a:rPr>
              <a:t>进一步学习资源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