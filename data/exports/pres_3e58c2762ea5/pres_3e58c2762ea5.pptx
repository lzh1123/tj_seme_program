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时间占比 (%)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需求分析</c:v>
                </c:pt>
                <c:pt idx="1">
                  <c:v>系统设计</c:v>
                </c:pt>
                <c:pt idx="2">
                  <c:v>编码实现</c:v>
                </c:pt>
                <c:pt idx="3">
                  <c:v>测试</c:v>
                </c:pt>
                <c:pt idx="4">
                  <c:v>维护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15.0</c:v>
                </c:pt>
                <c:pt idx="1">
                  <c:v>15.0</c:v>
                </c:pt>
                <c:pt idx="2">
                  <c:v>30.0</c:v>
                </c:pt>
                <c:pt idx="3">
                  <c:v>25.0</c:v>
                </c:pt>
                <c:pt idx="4">
                  <c:v>15.0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引入主题，明确演讲目标与内容范围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展示演讲结构，帮助听众掌握整体框架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给出软件工程的标准定义，明确其核心内涵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介绍软件工程的四个基本层次：质量焦点、过程、方法、工具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通过时间线展示软件工程从萌芽到成熟的关键里程碑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用流程图表展示需求、设计、实现、测试、维护的迭代关系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对比传统瀑布模型与现代敏捷开发的特点、适用场景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介绍需求获取、分析、规格说明与验证的基本活动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讲解模块化、信息隐藏、高内聚低耦合等设计原则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引用Fred Brooks的著名论断，引发对软件工程本质的思考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按类别（IDE、版本控制、测试、项目管理）列举典型工具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分析当前软件工程的优势、劣势、机会与威胁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介绍分层架构、MVC、微服务等常见体系结构风格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用柱状图展示不同过程阶段在典型项目中占用的时间比例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概括关键要点，提供进一步学习资源，开放提问环节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3448049"/>
            <a:ext cx="10972525" cy="2647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理解软件工程的定义与重要性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掌握软件过程与方法的全貌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认识常用工具与体系结构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904999"/>
            <a:ext cx="10972525" cy="666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4B5563"/>
                </a:solidFill>
                <a:latin typeface="Times New Roman, Georgia, serif"/>
              </a:rPr>
              <a:t>从概念到实践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2724150"/>
            <a:ext cx="10972525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构建可靠软件的工程化方法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609600"/>
            <a:ext cx="10972525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软件工程介绍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基本概念：软件工程定义与层次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软件过程：发展历程、通用阶段与过程模型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软件方法：需求工程、设计原则与经典名言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工具与架构：常用工具、SWOT分析与体系结构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度量与数据：软件过程活动时间分布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总结与问答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演讲议程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软件工程是应用系统化的、规范化的、可量化的方法开发、运行和维护软件的工程学科。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其核心目标是在预算和时间内生产高质量的软件产品，满足用户需求。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IEEE将软件工程定义为：将系统化的、规范的、可度量的方法应用于软件的开发、运行和维护的全过程。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关注大型、复杂软件的构建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强调过程管理、质量控制和团队协作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区别于个人编程，注重工程化思维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什么是软件工程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软件工程包含四个层次：质量焦点、过程、方法和工具。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质量焦点是基石，强调持续改进和质量管理（如CMMI、ISO 9000）。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过程定义了一系列活动及其顺序，确保开发有序进行。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方法提供了如何完成活动的技术指南（如结构化方法、面向对象方法）。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工具为方法和过程提供自动化支持（如IDE、版本控制、测试工具）。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质量焦点：确保软件满足需求并具有可靠性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过程：框架性的活动集合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方法：具体实现的技术手段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工具：提高效率的自动化支持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软件工程的层次结构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584" y="3962399"/>
            <a:ext cx="10972525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49688" y="3905249"/>
            <a:ext cx="114297" cy="114300"/>
          </a:xfrm>
          <a:prstGeom prst="ellipse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9310" y="1676400"/>
            <a:ext cx="1975054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1968 · 软件危机</a:t>
            </a:r>
            <a:br/>
            <a:r>
              <a:t>NATO会议首次提出软件工程概念，应对成本超支和质量问题</a:t>
            </a:r>
          </a:p>
        </p:txBody>
      </p:sp>
      <p:sp>
        <p:nvSpPr>
          <p:cNvPr id="5" name="Oval 4"/>
          <p:cNvSpPr/>
          <p:nvPr/>
        </p:nvSpPr>
        <p:spPr>
          <a:xfrm>
            <a:off x="3844193" y="3905249"/>
            <a:ext cx="114297" cy="114300"/>
          </a:xfrm>
          <a:prstGeom prst="ellipse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13815" y="1676400"/>
            <a:ext cx="1975054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1970s · 结构化方法</a:t>
            </a:r>
            <a:br/>
            <a:r>
              <a:t>Dijkstra、Wirth等人推动结构化编程和设计</a:t>
            </a:r>
          </a:p>
        </p:txBody>
      </p:sp>
      <p:sp>
        <p:nvSpPr>
          <p:cNvPr id="7" name="Oval 6"/>
          <p:cNvSpPr/>
          <p:nvPr/>
        </p:nvSpPr>
        <p:spPr>
          <a:xfrm>
            <a:off x="6038699" y="3905249"/>
            <a:ext cx="114297" cy="114300"/>
          </a:xfrm>
          <a:prstGeom prst="ellipse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08320" y="1676400"/>
            <a:ext cx="1975054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1980s-1990s · 面向对象方法</a:t>
            </a:r>
            <a:br/>
            <a:r>
              <a:t>Smalltalk、C++、UML等推动面向对象分析与设计</a:t>
            </a:r>
          </a:p>
        </p:txBody>
      </p:sp>
      <p:sp>
        <p:nvSpPr>
          <p:cNvPr id="9" name="Oval 8"/>
          <p:cNvSpPr/>
          <p:nvPr/>
        </p:nvSpPr>
        <p:spPr>
          <a:xfrm>
            <a:off x="8233204" y="3905249"/>
            <a:ext cx="114297" cy="114300"/>
          </a:xfrm>
          <a:prstGeom prst="ellipse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02825" y="1676400"/>
            <a:ext cx="1975054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2001 · 敏捷宣言</a:t>
            </a:r>
            <a:br/>
            <a:r>
              <a:t>17位专家提出敏捷价值观和原则，Scrum、XP等兴起</a:t>
            </a:r>
          </a:p>
        </p:txBody>
      </p:sp>
      <p:sp>
        <p:nvSpPr>
          <p:cNvPr id="11" name="Oval 10"/>
          <p:cNvSpPr/>
          <p:nvPr/>
        </p:nvSpPr>
        <p:spPr>
          <a:xfrm>
            <a:off x="10427709" y="3905249"/>
            <a:ext cx="114297" cy="114300"/>
          </a:xfrm>
          <a:prstGeom prst="ellipse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97330" y="1676400"/>
            <a:ext cx="1975054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2010s至今 · DevOps与AI辅助</a:t>
            </a:r>
            <a:br/>
            <a:r>
              <a:t>持续集成/持续交付、云计算、AI代码生成等新范式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软件工程发展简史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584" y="1676400"/>
            <a:ext cx="2072588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6744" y="1813560"/>
            <a:ext cx="179826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需求分析</a:t>
            </a:r>
          </a:p>
          <a:p>
            <a:pPr algn="ctr">
              <a:defRPr sz="1200">
                <a:solidFill>
                  <a:srgbClr val="4B5563"/>
                </a:solidFill>
                <a:latin typeface="Times New Roman, Georgia, serif"/>
              </a:defRPr>
            </a:pPr>
            <a:r>
              <a:t>与客户沟通，明确系统功能和非功能需求，产出需求规格说明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34569" y="1676400"/>
            <a:ext cx="2072588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71729" y="1813560"/>
            <a:ext cx="179826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系统设计</a:t>
            </a:r>
          </a:p>
          <a:p>
            <a:pPr algn="ctr">
              <a:defRPr sz="1200">
                <a:solidFill>
                  <a:srgbClr val="4B5563"/>
                </a:solidFill>
                <a:latin typeface="Times New Roman, Georgia, serif"/>
              </a:defRPr>
            </a:pPr>
            <a:r>
              <a:t>划分模块，定义体系结构和接口，设计数据库和用户界面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59553" y="1676400"/>
            <a:ext cx="2072588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96713" y="1813560"/>
            <a:ext cx="179826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实现（编码）</a:t>
            </a:r>
          </a:p>
          <a:p>
            <a:pPr algn="ctr">
              <a:defRPr sz="1200">
                <a:solidFill>
                  <a:srgbClr val="4B5563"/>
                </a:solidFill>
                <a:latin typeface="Times New Roman, Georgia, serif"/>
              </a:defRPr>
            </a:pPr>
            <a:r>
              <a:t>根据设计编写代码，进行单元测试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84537" y="1676400"/>
            <a:ext cx="2072588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21697" y="1813560"/>
            <a:ext cx="179826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测试</a:t>
            </a:r>
          </a:p>
          <a:p>
            <a:pPr algn="ctr">
              <a:defRPr sz="1200">
                <a:solidFill>
                  <a:srgbClr val="4B5563"/>
                </a:solidFill>
                <a:latin typeface="Times New Roman, Georgia, serif"/>
              </a:defRPr>
            </a:pPr>
            <a:r>
              <a:t>集成测试、系统测试、验收测试，确保质量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522" y="1676400"/>
            <a:ext cx="2072588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46682" y="1813560"/>
            <a:ext cx="179826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维护</a:t>
            </a:r>
          </a:p>
          <a:p>
            <a:pPr algn="ctr">
              <a:defRPr sz="1200">
                <a:solidFill>
                  <a:srgbClr val="4B5563"/>
                </a:solidFill>
                <a:latin typeface="Times New Roman, Georgia, serif"/>
              </a:defRPr>
            </a:pPr>
            <a:r>
              <a:t>修复缺陷、适应环境变化、增加新功能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通用软件过程阶段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584" y="1676400"/>
            <a:ext cx="5410064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464" y="1859280"/>
            <a:ext cx="504430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瀑布模型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线性顺序，阶段严格划分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文档驱动，每个阶段有明确产出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适用于需求稳定、技术成熟的项目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变更成本高，适合大型系统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045" y="1676400"/>
            <a:ext cx="5410064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4925" y="1859280"/>
            <a:ext cx="504430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敏捷开发（Scrum）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迭代增量，快速交付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价值驱动，强调客户协作与响应变化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适用于需求模糊、快速变化的环境</a:t>
            </a:r>
          </a:p>
          <a:p>
            <a:pPr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变更成本低，适合中小团队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过程模型对比：瀑布与敏捷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需求工程是软件工程的关键活动，旨在理解用户期望并准确表达。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包括四个主要阶段：需求获取、需求分析、需求规格说明、需求验证。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常用技术有：面谈、问卷调查、用例、原型法。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需求获取：与利益相关者沟通，收集原始需求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需求分析：分类、建模、检查冲突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规格说明：以SRS形式精确描述需求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需求验证：确保需求完整、一致、可测试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需求工程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软件设计是将需求转化为可实现的系统结构的过程。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核心原则包括模块化、信息隐藏、高内聚、低耦合。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模块化将系统分解为独立的部分，易于开发与维护。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信息隐藏使得模块内部细节对外部不可见，降低复杂性。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高内聚意味着模块内部元素紧密相关，低耦合意味着模块间依赖最小化。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模块化：分而治之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信息隐藏：接口清晰，实现隐藏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高内聚：职责单一</a:t>
            </a: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低耦合：依赖最小化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软件设计基础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584" y="1676400"/>
            <a:ext cx="10972525" cy="457200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3904" y="1950720"/>
            <a:ext cx="1042388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111827"/>
                </a:solidFill>
                <a:latin typeface="Times New Roman, Georgia, serif"/>
              </a:defRPr>
            </a:pPr>
            <a:r>
              <a:t>“没有一种技术或管理上的突破，能在十年内使软件生产率、可靠性或简洁性提高一个数量级。”</a:t>
            </a:r>
          </a:p>
          <a:p>
            <a:pPr algn="ctr">
              <a:defRPr sz="1600">
                <a:solidFill>
                  <a:srgbClr val="4B5563"/>
                </a:solidFill>
                <a:latin typeface="Times New Roman, Georgia, serif"/>
              </a:defRPr>
            </a:pPr>
            <a:r>
              <a:t>— Fred Brooks, 1986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584" y="1676400"/>
            <a:ext cx="2628834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6744" y="1813560"/>
            <a:ext cx="235451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集成开发环境 (IDE)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Visual Studio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IntelliJ IDEA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Eclipse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VS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90815" y="1676400"/>
            <a:ext cx="2628834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527975" y="1813560"/>
            <a:ext cx="235451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版本控制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Git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Subversion (SVN)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Mercurial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045" y="1676400"/>
            <a:ext cx="2628834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205" y="1813560"/>
            <a:ext cx="235451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测试工具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JUnit (单元测试)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Selenium (自动化测试)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JMeter (性能测试)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53276" y="1676400"/>
            <a:ext cx="2628834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90436" y="1813560"/>
            <a:ext cx="235451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项目管理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JIRA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Trello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Microsoft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常用软件工程工具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584" y="1676400"/>
            <a:ext cx="5410064" cy="2209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6744" y="1813560"/>
            <a:ext cx="5135744" cy="1935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Strengths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成熟的过程模型与最佳实践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强大的工具生态系统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不断完善的度量与质量体系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045" y="1676400"/>
            <a:ext cx="5410064" cy="2209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205" y="1813560"/>
            <a:ext cx="5135744" cy="1935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Weaknesses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人员技能差异大，依赖经验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需求变更仍带来高风险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复杂系统调试与维护成本高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" y="4038599"/>
            <a:ext cx="5410064" cy="2209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6744" y="4175759"/>
            <a:ext cx="5135744" cy="1935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Opportunities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人工智能辅助开发（代码生成、测试）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云原生与DevOps提升自动化水平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低代码/无代码平台降低门槛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045" y="4038599"/>
            <a:ext cx="5410064" cy="2209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205" y="4175759"/>
            <a:ext cx="5135744" cy="1935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Threats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快速变化的技术栈增加学习成本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安全漏洞和隐私问题日益严峻</a:t>
            </a:r>
          </a:p>
          <a:p>
            <a:pPr>
              <a:defRPr sz="1200">
                <a:solidFill>
                  <a:srgbClr val="111827"/>
                </a:solidFill>
                <a:latin typeface="Times New Roman, Georgia, serif"/>
              </a:defRPr>
            </a:pPr>
            <a:r>
              <a:t>领域特定语言兴起对通用方法的冲击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软件工程的SWOT分析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584" y="1676400"/>
            <a:ext cx="10972525" cy="14224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6744" y="1767840"/>
            <a:ext cx="10698205" cy="1239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分层架构</a:t>
            </a:r>
          </a:p>
          <a:p>
            <a:pPr>
              <a:defRPr sz="1200">
                <a:solidFill>
                  <a:srgbClr val="4B5563"/>
                </a:solidFill>
                <a:latin typeface="Times New Roman, Georgia, serif"/>
              </a:defRPr>
            </a:pPr>
            <a:r>
              <a:t>表现层 (UI) · 业务逻辑层 · 数据访问层 · 数据库层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3251200"/>
            <a:ext cx="10972525" cy="14224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6744" y="3342640"/>
            <a:ext cx="10698205" cy="1239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MVC模式</a:t>
            </a:r>
          </a:p>
          <a:p>
            <a:pPr>
              <a:defRPr sz="1200">
                <a:solidFill>
                  <a:srgbClr val="4B5563"/>
                </a:solidFill>
                <a:latin typeface="Times New Roman, Georgia, serif"/>
              </a:defRPr>
            </a:pPr>
            <a:r>
              <a:t>Model (数据与业务规则) · View (用户界面) · Controller (控制流)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" y="4826000"/>
            <a:ext cx="10972525" cy="14224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6744" y="4917440"/>
            <a:ext cx="10698205" cy="1239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Times New Roman, Georgia, serif"/>
              </a:defRPr>
            </a:pPr>
            <a:r>
              <a:t>微服务架构</a:t>
            </a:r>
          </a:p>
          <a:p>
            <a:pPr>
              <a:defRPr sz="1200">
                <a:solidFill>
                  <a:srgbClr val="4B5563"/>
                </a:solidFill>
                <a:latin typeface="Times New Roman, Georgia, serif"/>
              </a:defRPr>
            </a:pPr>
            <a:r>
              <a:t>独立部署的服务 · API网关 · 服务发现 · 配置中心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软件体系结构概述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09584" y="1676400"/>
          <a:ext cx="10972525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软件过程活动时间分布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584" y="609600"/>
            <a:ext cx="10972525" cy="56387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2019299"/>
            <a:ext cx="10972525" cy="2255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11827"/>
                </a:solidFill>
                <a:latin typeface="Times New Roman, Georgia, serif"/>
              </a:defRPr>
            </a:pPr>
            <a:r>
              <a:t>总结与问答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