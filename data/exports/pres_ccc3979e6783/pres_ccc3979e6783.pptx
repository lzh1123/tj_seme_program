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建立基础认知</a:t>
            </a:r>
          </a:p>
          <a:p>
            <a:r>
              <a:t>引导课程目标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明确课程结构</a:t>
            </a:r>
          </a:p>
          <a:p>
            <a:r>
              <a:t>激发学习兴趣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解释工程化思想</a:t>
            </a:r>
          </a:p>
          <a:p>
            <a:r>
              <a:t>强调系统性和纪律性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区分个体编程与工程化开发</a:t>
            </a:r>
          </a:p>
          <a:p>
            <a:r>
              <a:t>突出工程思维的重要性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介绍几种主流模型</a:t>
            </a:r>
          </a:p>
          <a:p>
            <a:r>
              <a:t>对比适用场景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强调需求的重要性</a:t>
            </a:r>
          </a:p>
          <a:p>
            <a:r>
              <a:t>介绍需求获取与分析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顶层设计与详细设计</a:t>
            </a:r>
          </a:p>
          <a:p>
            <a:r>
              <a:t>设计原则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编码规范与版本控制</a:t>
            </a:r>
          </a:p>
          <a:p>
            <a:r>
              <a:t>测试策略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介绍项目管理关键要素</a:t>
            </a:r>
          </a:p>
          <a:p>
            <a:r>
              <a:t>风险管理与进度控制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介绍常见角色与职责</a:t>
            </a:r>
          </a:p>
          <a:p>
            <a:r>
              <a:t>强调沟通的重要性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巩固核心概念</a:t>
            </a:r>
          </a:p>
          <a:p>
            <a:r>
              <a:t>鼓励进一步学习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感谢参与</a:t>
            </a:r>
          </a:p>
          <a:p>
            <a:r>
              <a:t>准备提问环节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448049"/>
            <a:ext cx="10972525" cy="2647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系统性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规范性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协作性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904999"/>
            <a:ext cx="10972525" cy="666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Times New Roman, Georgia, serif"/>
              </a:rPr>
              <a:t>基础概念、过程与方法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2724150"/>
            <a:ext cx="1097252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构建高质量软件的工程化方法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09600"/>
            <a:ext cx="10972525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什么是软件工程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软件工程 vs 编程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经典过程模型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需求工程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软件设计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编码与测试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项目管理基础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团队合作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课程大纲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应用系统化、规范化、可量化的方法来开发、运行和维护软件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将工程原理应用于软件领域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核心目标：高质量、低成本、按时交付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什么是软件工程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5410064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464" y="1859280"/>
            <a:ext cx="5044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编程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关注代码实现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个人或小团队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缺乏文档与规范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以功能正确为目标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045" y="1676400"/>
            <a:ext cx="5410064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4925" y="1859280"/>
            <a:ext cx="5044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软件工程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关注全生命周期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多角色协作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强调文档与流程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追求可维护性、可靠性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 vs 编程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3555911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6744" y="1813560"/>
            <a:ext cx="3281591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瀑布模型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顺序执行阶段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需求稳定时适用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后期修改成本高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17892" y="1676400"/>
            <a:ext cx="3555911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55052" y="1813560"/>
            <a:ext cx="3281591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迭代模型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增量开发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逐步完善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风险驱动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6199" y="1676400"/>
            <a:ext cx="3555911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3359" y="1813560"/>
            <a:ext cx="3281591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敏捷开发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快速迭代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客户参与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拥抱变化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经典软件过程模型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需求获取：访谈、问卷、观察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需求分析：功能与非功能需求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需求规范：用例、用户故事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需求管理：变更控制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需求工程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体系结构设计：模块划分、层次结构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详细设计：类设计、数据结构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设计原则：高内聚、低耦合、SOLID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编码规范：命名、注释、代码复用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版本控制：Git、分支策略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测试层次：单元测试、集成测试、系统测试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测试工具：JUnit、Selenium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编码与测试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项目计划：范围、时间、成本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风险管理：识别、评估、应对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进度跟踪：甘特图、燃尽图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质量保证：评审、审计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项目管理基础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3555911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6744" y="1813560"/>
            <a:ext cx="3281591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项目经理</a:t>
            </a:r>
          </a:p>
          <a:p>
            <a:pPr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规划与协调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制定计划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风险管控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团队沟通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17892" y="1676400"/>
            <a:ext cx="3555911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55052" y="1813560"/>
            <a:ext cx="3281591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业务分析师</a:t>
            </a:r>
          </a:p>
          <a:p>
            <a:pPr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需求获取与分析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编写用户故事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定义验收标准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6199" y="1676400"/>
            <a:ext cx="3555911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3359" y="1813560"/>
            <a:ext cx="3281591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开发工程师</a:t>
            </a:r>
          </a:p>
          <a:p>
            <a:pPr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编码与单元测试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技术实现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代码审查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4038599"/>
            <a:ext cx="3555911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744" y="4175759"/>
            <a:ext cx="3281591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测试工程师</a:t>
            </a:r>
          </a:p>
          <a:p>
            <a:pPr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质量保障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设计测试用例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自动化测试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团队协作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软件工程是系统化的软件开发方法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过程模型提供开发框架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需求、设计、编码、测试构成核心活动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项目管理与团队协作保障成功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持续学习与实践是成长关键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关键要点回顾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" y="609600"/>
            <a:ext cx="10972525" cy="56387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019299"/>
            <a:ext cx="10972525" cy="2255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11827"/>
                </a:solidFill>
                <a:latin typeface="Times New Roman, Georgia, serif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3992879"/>
            <a:ext cx="10972525" cy="112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B5563"/>
                </a:solidFill>
                <a:latin typeface="Times New Roman, Georgia, serif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