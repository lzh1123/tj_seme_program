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Performance Trend Analysis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Growth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125</c:v>
                </c:pt>
                <c:pt idx="2">
                  <c:v>150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Customer Acquisition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80</c:v>
                </c:pt>
                <c:pt idx="1">
                  <c:v>95</c:v>
                </c:pt>
                <c:pt idx="2">
                  <c:v>120</c:v>
                </c:pt>
                <c:pt idx="3">
                  <c:v>145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100" b="1" i="0" u="none">
                <a:solidFill>
                  <a:srgbClr val="0078D7"/>
                </a:solidFill>
                <a:latin typeface="Segoe UI"/>
              </a:rPr>
              <a:t>Retrieval-Augmented Generation（RAG）技术介绍与应用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 u="none">
                <a:solidFill>
                  <a:srgbClr val="444444"/>
                </a:solidFill>
                <a:latin typeface="Segoe UI Light"/>
              </a:rPr>
              <a:t>结构化大纲驱动的自动化生成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B0F0"/>
                </a:solidFill>
                <a:latin typeface="Segoe UI"/>
              </a:rPr>
              <a:t>AI Generator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6217920"/>
            <a:ext cx="2743200" cy="9144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目录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7315200" cy="9144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 u="none">
                <a:solidFill>
                  <a:srgbClr val="444444"/>
                </a:solidFill>
                <a:latin typeface="Segoe UI"/>
              </a:rPr>
              <a:t>1. 封面 2. 目录 3. 背景介绍 4. 核心概念 5. 工作原理 6. 应用案例 7. 优势与挑战 8.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 u="sng">
                <a:solidFill>
                  <a:srgbClr val="0078D7"/>
                </a:solidFill>
                <a:latin typeface="Segoe UI"/>
              </a:rPr>
              <a:t>Retrieval-Augmented Generation（RAG）技术介绍与应用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2900" b="1" i="0" u="none">
                <a:solidFill>
                  <a:srgbClr val="444444"/>
                </a:solidFill>
                <a:latin typeface="Segoe UI"/>
              </a:rPr>
              <a:t>• 技术分享 • 日期：2023年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内容概览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为什么需要RAG？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传统语言模型的局限性：知识更新滞后 • 大模型幻觉问题与事实准确性挑战 • 动态知识库整合需求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none">
                <a:solidFill>
                  <a:srgbClr val="444444"/>
                </a:solidFill>
                <a:latin typeface="Segoe UI"/>
              </a:rPr>
              <a:t>• RAG解决的问题边界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RAG技术框架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99.9%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"/>
              </a:rPr>
              <a:t>可用性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2x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"/>
              </a:rPr>
              <a:t>交付效率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1188720"/>
            <a:ext cx="2011680" cy="201168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94960" y="146304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↓30%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22860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400" b="1" i="0" u="none">
                <a:solidFill>
                  <a:srgbClr val="FFFFFF"/>
                </a:solidFill>
                <a:latin typeface="Segoe UI"/>
              </a:rPr>
              <a:t>缺陷率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914400" y="3657600"/>
          <a:ext cx="7315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RAG工作流程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Data Collection &amp; Analysis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688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6576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AI-Powered Processing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Optimization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669280" y="2194560"/>
            <a:ext cx="914400" cy="365760"/>
          </a:xfrm>
          <a:prstGeom prst="rightArrow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858000" y="1645920"/>
            <a:ext cx="1828800" cy="1371600"/>
          </a:xfrm>
          <a:prstGeom prst="round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91440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FFFFFF"/>
                </a:solidFill>
                <a:latin typeface="Segoe U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645920"/>
            <a:ext cx="18288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Intelligent Delivery &amp;</a:t>
            </a:r>
          </a:p>
          <a:p>
            <a:pPr algn="ctr">
              <a:lnSpc>
                <a:spcPct val="120000"/>
              </a:lnSpc>
            </a:pPr>
            <a:r>
              <a:rPr sz="1000" b="1" i="0" u="none">
                <a:solidFill>
                  <a:srgbClr val="FFFFFF"/>
                </a:solidFill>
                <a:latin typeface="Segoe UI"/>
              </a:rPr>
              <a:t>Results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57600"/>
            <a:ext cx="7315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🎯 Complete automation reduces processing time by 85% ⚡ Real-time optimization delivers instant insights 🔄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Continuous learning improves accuracy over time 📊 Comprehensive analytics provide actionable intelligence 🚀</a:t>
            </a:r>
          </a:p>
          <a:p>
            <a:pPr algn="ctr">
              <a:lnSpc>
                <a:spcPct val="13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Scalable architecture grows with your business needs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典型应用场景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企业知识库问答系统 • 专业领域辅助决策（医疗/金融） • 个性化内容生成引擎 • 实时数据报告生成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代码辅助与文档生成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300" b="1" i="0" u="none">
                <a:solidFill>
                  <a:srgbClr val="0078D7"/>
                </a:solidFill>
                <a:latin typeface="Segoe UI"/>
              </a:rPr>
              <a:t>技术评估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 u="none">
                <a:solidFill>
                  <a:srgbClr val="444444"/>
                </a:solidFill>
                <a:latin typeface="Segoe UI"/>
              </a:rPr>
              <a:t>• 优势：事实准确性提升 &gt;50% • 优势：知识实时更新能力 • 优势：可解释性增强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006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 u="none">
                <a:solidFill>
                  <a:srgbClr val="444444"/>
                </a:solidFill>
                <a:latin typeface="Segoe UI"/>
              </a:rPr>
              <a:t>• 挑战：检索质量依赖 • 挑战：延迟与资源消耗 • 挑战：多跳推理局限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600" b="1" i="0" u="sng">
                <a:solidFill>
                  <a:srgbClr val="0078D7"/>
                </a:solidFill>
                <a:latin typeface="Segoe UI"/>
              </a:rPr>
              <a:t>核心价值与展望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743200" cy="73152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3931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• RAG的核心创新：动态知识融合 • 技术演进方向：多模态RAG • 优化方向：检索效率提升 •</a:t>
            </a:r>
          </a:p>
          <a:p>
            <a:pPr algn="l">
              <a:lnSpc>
                <a:spcPct val="120000"/>
              </a:lnSpc>
            </a:pPr>
            <a:r>
              <a:rPr sz="1000" b="1" i="0" u="none">
                <a:solidFill>
                  <a:srgbClr val="444444"/>
                </a:solidFill>
                <a:latin typeface="Segoe UI"/>
              </a:rPr>
              <a:t>企业落地建议：场景驱动实施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463040"/>
            <a:ext cx="3931920" cy="36576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</a:pPr>
            <a:r>
              <a:rPr sz="2800"/>
              <a:t>High-Impact Visual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solidFill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4297680" cy="4023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</a:pPr>
            <a:r>
              <a:rPr sz="3400"/>
              <a:t>Shape: rectangle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486400"/>
            <a:ext cx="5486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2200" b="1" i="1" u="none">
                <a:solidFill>
                  <a:srgbClr val="FFC000"/>
                </a:solidFill>
                <a:latin typeface="Segoe UI Semibold"/>
              </a:rPr>
              <a:t>Ready to Transform? Let's Begin!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tmpix8muix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u="none">
                <a:solidFill>
                  <a:srgbClr val="0078D7"/>
                </a:solidFill>
                <a:latin typeface="Segoe U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1" u="none">
                <a:solidFill>
                  <a:srgbClr val="444444"/>
                </a:solidFill>
                <a:latin typeface="Segoe UI Light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3600" b="1" i="0" u="none">
                <a:solidFill>
                  <a:srgbClr val="444444"/>
                </a:solidFill>
                <a:latin typeface="Segoe UI"/>
              </a:rPr>
              <a:t>Q &amp; 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Retrieval-Augmented Generation（RAG）技术介绍与应用</dc:title>
  <dc:subject>Retrieval-Augmented Generation（RAG）技术介绍与应用</dc:subject>
  <dc:creator/>
  <cp:keywords>AI, PPT, MCP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